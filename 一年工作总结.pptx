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3"/>
    <p:sldId id="257" r:id="rId4"/>
    <p:sldId id="287" r:id="rId5"/>
    <p:sldId id="288" r:id="rId6"/>
    <p:sldId id="276" r:id="rId7"/>
    <p:sldId id="278" r:id="rId8"/>
    <p:sldId id="279" r:id="rId9"/>
    <p:sldId id="280" r:id="rId10"/>
    <p:sldId id="282" r:id="rId11"/>
    <p:sldId id="289" r:id="rId12"/>
    <p:sldId id="284" r:id="rId13"/>
    <p:sldId id="290" r:id="rId14"/>
    <p:sldId id="285" r:id="rId15"/>
    <p:sldId id="292" r:id="rId16"/>
    <p:sldId id="258" r:id="rId17"/>
    <p:sldId id="294" r:id="rId18"/>
    <p:sldId id="268" r:id="rId19"/>
    <p:sldId id="293" r:id="rId21"/>
    <p:sldId id="295" r:id="rId22"/>
    <p:sldId id="271" r:id="rId23"/>
    <p:sldId id="297" r:id="rId24"/>
    <p:sldId id="296"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notesMaster" Target="notesMasters/notesMaster1.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1.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xml"/><Relationship Id="rId1"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2.xml"/><Relationship Id="rId2" Type="http://schemas.openxmlformats.org/officeDocument/2006/relationships/image" Target="../media/image11.wmf"/><Relationship Id="rId1" Type="http://schemas.openxmlformats.org/officeDocument/2006/relationships/oleObject" Target="../embeddings/oleObject1.bin"/></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2.xml"/><Relationship Id="rId2" Type="http://schemas.openxmlformats.org/officeDocument/2006/relationships/image" Target="../media/image13.png"/><Relationship Id="rId1"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ctrTitle"/>
          </p:nvPr>
        </p:nvSpPr>
        <p:spPr/>
        <p:txBody>
          <a:bodyPr/>
          <a:p>
            <a:r>
              <a:rPr lang="zh-CN" altLang="en-US"/>
              <a:t>工作</a:t>
            </a:r>
            <a:r>
              <a:rPr lang="zh-CN" altLang="en-US"/>
              <a:t>总结</a:t>
            </a:r>
            <a:endParaRPr lang="zh-CN" altLang="en-US"/>
          </a:p>
        </p:txBody>
      </p:sp>
      <p:sp>
        <p:nvSpPr>
          <p:cNvPr id="3" name="副标题 2"/>
          <p:cNvSpPr>
            <a:spLocks noGrp="1"/>
          </p:cNvSpPr>
          <p:nvPr>
            <p:ph type="subTitle" idx="1"/>
          </p:nvPr>
        </p:nvSpPr>
        <p:spPr/>
        <p:txBody>
          <a:bodyPr/>
          <a:p>
            <a:r>
              <a:rPr lang="zh-CN" altLang="en-US"/>
              <a:t>俞皓</a:t>
            </a:r>
            <a:r>
              <a:rPr lang="zh-CN" altLang="en-US"/>
              <a:t>涵</a:t>
            </a:r>
            <a:endParaRPr lang="zh-CN"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代码</a:t>
            </a:r>
            <a:r>
              <a:rPr lang="zh-CN" altLang="en-US"/>
              <a:t>成果</a:t>
            </a:r>
            <a:endParaRPr lang="zh-CN" altLang="en-US"/>
          </a:p>
        </p:txBody>
      </p:sp>
      <p:sp>
        <p:nvSpPr>
          <p:cNvPr id="3" name="内容占位符 2"/>
          <p:cNvSpPr>
            <a:spLocks noGrp="1"/>
          </p:cNvSpPr>
          <p:nvPr>
            <p:ph idx="1"/>
          </p:nvPr>
        </p:nvSpPr>
        <p:spPr/>
        <p:txBody>
          <a:bodyPr/>
          <a:p>
            <a:r>
              <a:rPr lang="en-US" altLang="zh-CN"/>
              <a:t>PINN https://github.com/sharon2467/pinn</a:t>
            </a:r>
            <a:endParaRPr lang="en-US" altLang="zh-CN"/>
          </a:p>
          <a:p>
            <a:r>
              <a:rPr lang="en-US" altLang="zh-CN"/>
              <a:t>DeepONet https://github.com/sharon2467/deeponet</a:t>
            </a:r>
            <a:endParaRPr lang="en-US" altLang="zh-CN"/>
          </a:p>
          <a:p>
            <a:r>
              <a:rPr lang="zh-CN" altLang="en-US"/>
              <a:t>内附注释和</a:t>
            </a:r>
            <a:r>
              <a:rPr lang="zh-CN" altLang="en-US"/>
              <a:t>文档</a:t>
            </a:r>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进展：</a:t>
            </a:r>
            <a:r>
              <a:rPr lang="zh-CN" altLang="en-US"/>
              <a:t>解析磁场模型</a:t>
            </a:r>
            <a:r>
              <a:rPr lang="zh-CN" altLang="en-US"/>
              <a:t>建立</a:t>
            </a:r>
            <a:endParaRPr lang="zh-CN" altLang="en-US"/>
          </a:p>
        </p:txBody>
      </p:sp>
      <p:sp>
        <p:nvSpPr>
          <p:cNvPr id="3" name="内容占位符 2"/>
          <p:cNvSpPr>
            <a:spLocks noGrp="1"/>
          </p:cNvSpPr>
          <p:nvPr>
            <p:ph idx="1"/>
          </p:nvPr>
        </p:nvSpPr>
        <p:spPr/>
        <p:txBody>
          <a:bodyPr/>
          <a:p>
            <a:r>
              <a:rPr lang="zh-CN" altLang="en-US"/>
              <a:t>电流线条</a:t>
            </a:r>
            <a:r>
              <a:rPr lang="en-US" altLang="zh-CN"/>
              <a:t>lineB</a:t>
            </a:r>
            <a:endParaRPr lang="zh-CN" altLang="en-US"/>
          </a:p>
          <a:p>
            <a:r>
              <a:rPr lang="zh-CN" altLang="en-US"/>
              <a:t>矩形线圈</a:t>
            </a:r>
            <a:r>
              <a:rPr lang="en-US" altLang="zh-CN"/>
              <a:t>rectangle</a:t>
            </a:r>
            <a:endParaRPr lang="en-US" altLang="zh-CN"/>
          </a:p>
          <a:p>
            <a:r>
              <a:rPr lang="zh-CN" altLang="en-US"/>
              <a:t>任意旋转圆线圈</a:t>
            </a:r>
            <a:r>
              <a:rPr lang="en-US" altLang="zh-CN"/>
              <a:t>circB_rotate</a:t>
            </a:r>
            <a:endParaRPr lang="zh-CN" altLang="en-US"/>
          </a:p>
          <a:p>
            <a:r>
              <a:rPr lang="zh-CN" altLang="en-US"/>
              <a:t>可调电流尺寸，可任意旋转</a:t>
            </a:r>
            <a:r>
              <a:rPr lang="en-US" altLang="zh-CN"/>
              <a:t> </a:t>
            </a:r>
            <a:endParaRPr lang="zh-CN" altLang="en-US"/>
          </a:p>
          <a:p>
            <a:r>
              <a:rPr lang="zh-CN" altLang="en-US"/>
              <a:t>两圆一矩</a:t>
            </a:r>
            <a:r>
              <a:rPr lang="en-US" altLang="zh-CN"/>
              <a:t>reccirc</a:t>
            </a:r>
            <a:endParaRPr lang="en-US" altLang="zh-CN"/>
          </a:p>
          <a:p>
            <a:r>
              <a:rPr lang="en-US" altLang="zh-CN"/>
              <a:t>laplace</a:t>
            </a:r>
            <a:r>
              <a:rPr lang="zh-CN" altLang="en-US"/>
              <a:t>方程解</a:t>
            </a:r>
            <a:r>
              <a:rPr lang="en-US" altLang="zh-CN"/>
              <a:t>cylinder/cubic/spherical</a:t>
            </a:r>
            <a:r>
              <a:rPr lang="zh-CN" altLang="en-US"/>
              <a:t>（</a:t>
            </a:r>
            <a:r>
              <a:rPr lang="en-US" altLang="zh-CN"/>
              <a:t>deeponet</a:t>
            </a:r>
            <a:r>
              <a:rPr lang="zh-CN" altLang="en-US"/>
              <a:t>可用）</a:t>
            </a:r>
            <a:endParaRPr lang="zh-CN" altLang="en-US"/>
          </a:p>
          <a:p>
            <a:r>
              <a:rPr lang="zh-CN" altLang="en-US"/>
              <a:t>均验证过无散无</a:t>
            </a:r>
            <a:r>
              <a:rPr lang="zh-CN" altLang="en-US"/>
              <a:t>旋</a:t>
            </a:r>
            <a:endParaRPr lang="zh-CN" altLang="en-US"/>
          </a:p>
          <a:p>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进展：</a:t>
            </a:r>
            <a:r>
              <a:rPr lang="en-US" altLang="zh-CN"/>
              <a:t>Maxwell</a:t>
            </a:r>
            <a:r>
              <a:rPr lang="zh-CN" altLang="en-US"/>
              <a:t>模型</a:t>
            </a:r>
            <a:endParaRPr lang="zh-CN" altLang="en-US"/>
          </a:p>
        </p:txBody>
      </p:sp>
      <p:sp>
        <p:nvSpPr>
          <p:cNvPr id="3" name="内容占位符 2"/>
          <p:cNvSpPr>
            <a:spLocks noGrp="1"/>
          </p:cNvSpPr>
          <p:nvPr>
            <p:ph idx="1"/>
          </p:nvPr>
        </p:nvSpPr>
        <p:spPr/>
        <p:txBody>
          <a:bodyPr/>
          <a:p>
            <a:r>
              <a:rPr lang="zh-CN" altLang="en-US"/>
              <a:t>在</a:t>
            </a:r>
            <a:r>
              <a:rPr lang="en-US" altLang="zh-CN"/>
              <a:t>pinn</a:t>
            </a:r>
            <a:r>
              <a:rPr lang="zh-CN" altLang="en-US"/>
              <a:t>库里一同</a:t>
            </a:r>
            <a:r>
              <a:rPr lang="zh-CN" altLang="en-US"/>
              <a:t>上传</a:t>
            </a:r>
            <a:endParaRPr lang="zh-CN" altLang="en-US"/>
          </a:p>
          <a:p>
            <a:r>
              <a:rPr lang="zh-CN" altLang="en-US"/>
              <a:t>下载使用</a:t>
            </a:r>
            <a:r>
              <a:rPr lang="en-US" altLang="zh-CN"/>
              <a:t>maxwell</a:t>
            </a:r>
            <a:r>
              <a:rPr lang="zh-CN" altLang="en-US"/>
              <a:t>后可获得已经配置好的数值磁场</a:t>
            </a:r>
            <a:r>
              <a:rPr lang="zh-CN" altLang="en-US"/>
              <a:t>模型</a:t>
            </a:r>
            <a:endParaRPr lang="zh-CN" altLang="en-US"/>
          </a:p>
          <a:p>
            <a:r>
              <a:rPr lang="zh-CN" altLang="en-US"/>
              <a:t>完全对应实验</a:t>
            </a:r>
            <a:r>
              <a:rPr lang="zh-CN" altLang="en-US"/>
              <a:t>线圈</a:t>
            </a:r>
            <a:endParaRPr lang="zh-CN" altLang="en-US"/>
          </a:p>
          <a:p>
            <a:r>
              <a:rPr lang="zh-CN" altLang="en-US"/>
              <a:t>求解数据未上传，需要自行</a:t>
            </a:r>
            <a:r>
              <a:rPr lang="zh-CN" altLang="en-US"/>
              <a:t>求解</a:t>
            </a:r>
            <a:endParaRPr lang="zh-CN" altLang="en-US"/>
          </a:p>
          <a:p>
            <a:r>
              <a:rPr lang="zh-CN" altLang="en-US"/>
              <a:t>记得拉大</a:t>
            </a:r>
            <a:r>
              <a:rPr lang="zh-CN" altLang="en-US"/>
              <a:t>边界</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normAutofit/>
          </a:bodyPr>
          <a:p>
            <a:r>
              <a:rPr lang="zh-CN" altLang="en-US"/>
              <a:t>进展：使用现实参数解析模型</a:t>
            </a:r>
            <a:r>
              <a:rPr lang="zh-CN" altLang="en-US"/>
              <a:t>训练</a:t>
            </a:r>
            <a:endParaRPr lang="zh-CN" altLang="en-US"/>
          </a:p>
        </p:txBody>
      </p:sp>
      <p:pic>
        <p:nvPicPr>
          <p:cNvPr id="4" name="内容占位符 3"/>
          <p:cNvPicPr>
            <a:picLocks noChangeAspect="1"/>
          </p:cNvPicPr>
          <p:nvPr>
            <p:ph idx="1"/>
          </p:nvPr>
        </p:nvPicPr>
        <p:blipFill>
          <a:blip r:embed="rId1"/>
          <a:stretch>
            <a:fillRect/>
          </a:stretch>
        </p:blipFill>
        <p:spPr>
          <a:xfrm>
            <a:off x="749935" y="4632325"/>
            <a:ext cx="10515600" cy="2103120"/>
          </a:xfrm>
          <a:prstGeom prst="rect">
            <a:avLst/>
          </a:prstGeom>
        </p:spPr>
      </p:pic>
      <p:pic>
        <p:nvPicPr>
          <p:cNvPr id="5" name="图片 4"/>
          <p:cNvPicPr>
            <a:picLocks noChangeAspect="1"/>
          </p:cNvPicPr>
          <p:nvPr/>
        </p:nvPicPr>
        <p:blipFill>
          <a:blip r:embed="rId2"/>
          <a:srcRect l="9952" t="11064" r="7896" b="7739"/>
          <a:stretch>
            <a:fillRect/>
          </a:stretch>
        </p:blipFill>
        <p:spPr>
          <a:xfrm>
            <a:off x="7232650" y="2593975"/>
            <a:ext cx="4314190" cy="4264025"/>
          </a:xfrm>
          <a:prstGeom prst="rect">
            <a:avLst/>
          </a:prstGeom>
        </p:spPr>
      </p:pic>
      <p:sp>
        <p:nvSpPr>
          <p:cNvPr id="6" name="文本框 5"/>
          <p:cNvSpPr txBox="1"/>
          <p:nvPr/>
        </p:nvSpPr>
        <p:spPr>
          <a:xfrm>
            <a:off x="1036320" y="2527935"/>
            <a:ext cx="4064000" cy="2061210"/>
          </a:xfrm>
          <a:prstGeom prst="rect">
            <a:avLst/>
          </a:prstGeom>
          <a:noFill/>
        </p:spPr>
        <p:txBody>
          <a:bodyPr wrap="square" rtlCol="0">
            <a:spAutoFit/>
          </a:bodyPr>
          <a:p>
            <a:r>
              <a:rPr lang="zh-CN" altLang="en-US" sz="3200"/>
              <a:t>解析模型</a:t>
            </a:r>
            <a:endParaRPr lang="en-US" altLang="zh-CN" sz="3200"/>
          </a:p>
          <a:p>
            <a:r>
              <a:rPr lang="en-US" altLang="zh-CN" sz="3200"/>
              <a:t>L=0.075</a:t>
            </a:r>
            <a:endParaRPr lang="en-US" altLang="zh-CN" sz="3200"/>
          </a:p>
          <a:p>
            <a:r>
              <a:rPr lang="en-US" altLang="zh-CN" sz="3200">
                <a:sym typeface="+mn-ea"/>
              </a:rPr>
              <a:t>error~5‰</a:t>
            </a:r>
            <a:endParaRPr lang="en-US" altLang="zh-CN" sz="3200"/>
          </a:p>
          <a:p>
            <a:endParaRPr lang="en-US" altLang="zh-CN" sz="3200"/>
          </a:p>
        </p:txBody>
      </p:sp>
      <p:pic>
        <p:nvPicPr>
          <p:cNvPr id="3" name="图片 2"/>
          <p:cNvPicPr>
            <a:picLocks noChangeAspect="1"/>
          </p:cNvPicPr>
          <p:nvPr/>
        </p:nvPicPr>
        <p:blipFill>
          <a:blip r:embed="rId3"/>
          <a:stretch>
            <a:fillRect/>
          </a:stretch>
        </p:blipFill>
        <p:spPr>
          <a:xfrm>
            <a:off x="3903345" y="1691005"/>
            <a:ext cx="2543175" cy="268160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中心磁场</a:t>
            </a:r>
            <a:r>
              <a:rPr lang="en-US" altLang="zh-CN"/>
              <a:t>400μ</a:t>
            </a:r>
            <a:r>
              <a:rPr lang="en-US" altLang="zh-CN"/>
              <a:t>T</a:t>
            </a:r>
            <a:endParaRPr lang="en-US" altLang="zh-CN"/>
          </a:p>
        </p:txBody>
      </p:sp>
      <p:pic>
        <p:nvPicPr>
          <p:cNvPr id="4" name="内容占位符 3"/>
          <p:cNvPicPr>
            <a:picLocks noChangeAspect="1"/>
          </p:cNvPicPr>
          <p:nvPr>
            <p:ph idx="1"/>
          </p:nvPr>
        </p:nvPicPr>
        <p:blipFill>
          <a:blip r:embed="rId1"/>
          <a:srcRect l="394" t="11630" r="9251" b="8755"/>
          <a:stretch>
            <a:fillRect/>
          </a:stretch>
        </p:blipFill>
        <p:spPr>
          <a:xfrm>
            <a:off x="195580" y="1574800"/>
            <a:ext cx="5829300" cy="5136515"/>
          </a:xfrm>
          <a:prstGeom prst="rect">
            <a:avLst/>
          </a:prstGeom>
        </p:spPr>
      </p:pic>
      <p:graphicFrame>
        <p:nvGraphicFramePr>
          <p:cNvPr id="9" name="表格 8"/>
          <p:cNvGraphicFramePr>
            <a:graphicFrameLocks noGrp="1"/>
          </p:cNvGraphicFramePr>
          <p:nvPr>
            <p:custDataLst>
              <p:tags r:id="rId2"/>
            </p:custDataLst>
          </p:nvPr>
        </p:nvGraphicFramePr>
        <p:xfrm>
          <a:off x="5780405" y="0"/>
          <a:ext cx="6411595" cy="2011680"/>
        </p:xfrm>
        <a:graphic>
          <a:graphicData uri="http://schemas.openxmlformats.org/drawingml/2006/table">
            <a:tbl>
              <a:tblPr firstRow="1" bandRow="1">
                <a:tableStyleId>{5C22544A-7EE6-4342-B048-85BDC9FD1C3A}</a:tableStyleId>
              </a:tblPr>
              <a:tblGrid>
                <a:gridCol w="958850"/>
                <a:gridCol w="1409700"/>
                <a:gridCol w="1165860"/>
                <a:gridCol w="1605915"/>
                <a:gridCol w="1271270"/>
              </a:tblGrid>
              <a:tr h="914400">
                <a:tc>
                  <a:txBody>
                    <a:bodyPr/>
                    <a:p>
                      <a:r>
                        <a:rPr lang="en-US" altLang="zh-CN" dirty="0">
                          <a:latin typeface="微软雅黑" panose="020B0503020204020204" charset="-122"/>
                          <a:ea typeface="微软雅黑" panose="020B0503020204020204" charset="-122"/>
                        </a:rPr>
                        <a:t>Dataset</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Mean relative error  %</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Std relative error %</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Mean absolute error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Std absolute error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r>
              <a:tr h="365760">
                <a:tc>
                  <a:txBody>
                    <a:bodyPr/>
                    <a:p>
                      <a:r>
                        <a:rPr lang="en-US" altLang="zh-CN" dirty="0">
                          <a:latin typeface="微软雅黑" panose="020B0503020204020204" charset="-122"/>
                          <a:ea typeface="微软雅黑" panose="020B0503020204020204" charset="-122"/>
                        </a:rPr>
                        <a:t>0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16</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50</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-0.1</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0.37</a:t>
                      </a:r>
                      <a:endParaRPr lang="zh-CN" altLang="en-US" dirty="0">
                        <a:latin typeface="微软雅黑" panose="020B0503020204020204" charset="-122"/>
                        <a:ea typeface="微软雅黑" panose="020B0503020204020204" charset="-122"/>
                      </a:endParaRPr>
                    </a:p>
                  </a:txBody>
                  <a:tcPr/>
                </a:tc>
              </a:tr>
              <a:tr h="365760">
                <a:tc>
                  <a:txBody>
                    <a:bodyPr/>
                    <a:p>
                      <a:r>
                        <a:rPr lang="en-US" altLang="zh-CN" dirty="0">
                          <a:latin typeface="微软雅黑" panose="020B0503020204020204" charset="-122"/>
                          <a:ea typeface="微软雅黑" panose="020B0503020204020204" charset="-122"/>
                        </a:rPr>
                        <a:t>10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2.4</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2.6</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0.25</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0.26</a:t>
                      </a:r>
                      <a:endParaRPr lang="zh-CN" altLang="en-US" dirty="0">
                        <a:latin typeface="微软雅黑" panose="020B0503020204020204" charset="-122"/>
                        <a:ea typeface="微软雅黑" panose="020B0503020204020204" charset="-122"/>
                      </a:endParaRPr>
                    </a:p>
                  </a:txBody>
                  <a:tcPr/>
                </a:tc>
              </a:tr>
              <a:tr h="365760">
                <a:tc>
                  <a:txBody>
                    <a:bodyPr/>
                    <a:p>
                      <a:r>
                        <a:rPr lang="en-US" altLang="zh-CN" dirty="0">
                          <a:latin typeface="微软雅黑" panose="020B0503020204020204" charset="-122"/>
                          <a:ea typeface="微软雅黑" panose="020B0503020204020204" charset="-122"/>
                        </a:rPr>
                        <a:t>100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0.07</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0.26</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0.07</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0.25</a:t>
                      </a:r>
                      <a:endParaRPr lang="zh-CN" altLang="en-US" dirty="0">
                        <a:latin typeface="微软雅黑" panose="020B0503020204020204" charset="-122"/>
                        <a:ea typeface="微软雅黑" panose="020B0503020204020204" charset="-122"/>
                      </a:endParaRPr>
                    </a:p>
                  </a:txBody>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中心磁场</a:t>
            </a:r>
            <a:r>
              <a:rPr lang="en-US" altLang="zh-CN"/>
              <a:t>100μ</a:t>
            </a:r>
            <a:r>
              <a:rPr lang="en-US" altLang="zh-CN"/>
              <a:t>T</a:t>
            </a:r>
            <a:endParaRPr lang="en-US" altLang="zh-CN"/>
          </a:p>
        </p:txBody>
      </p:sp>
      <p:pic>
        <p:nvPicPr>
          <p:cNvPr id="4" name="内容占位符 3"/>
          <p:cNvPicPr>
            <a:picLocks noChangeAspect="1"/>
          </p:cNvPicPr>
          <p:nvPr>
            <p:ph idx="1"/>
          </p:nvPr>
        </p:nvPicPr>
        <p:blipFill>
          <a:blip r:embed="rId1"/>
          <a:srcRect l="-365" t="11469" r="9645" b="9237"/>
          <a:stretch>
            <a:fillRect/>
          </a:stretch>
        </p:blipFill>
        <p:spPr>
          <a:xfrm>
            <a:off x="75565" y="1791970"/>
            <a:ext cx="5654675" cy="4942840"/>
          </a:xfrm>
          <a:prstGeom prst="rect">
            <a:avLst/>
          </a:prstGeom>
        </p:spPr>
      </p:pic>
      <p:graphicFrame>
        <p:nvGraphicFramePr>
          <p:cNvPr id="13" name="表格 12"/>
          <p:cNvGraphicFramePr>
            <a:graphicFrameLocks noGrp="1"/>
          </p:cNvGraphicFramePr>
          <p:nvPr>
            <p:custDataLst>
              <p:tags r:id="rId2"/>
            </p:custDataLst>
          </p:nvPr>
        </p:nvGraphicFramePr>
        <p:xfrm>
          <a:off x="5780405" y="202565"/>
          <a:ext cx="6411595" cy="2011680"/>
        </p:xfrm>
        <a:graphic>
          <a:graphicData uri="http://schemas.openxmlformats.org/drawingml/2006/table">
            <a:tbl>
              <a:tblPr firstRow="1" bandRow="1">
                <a:tableStyleId>{5C22544A-7EE6-4342-B048-85BDC9FD1C3A}</a:tableStyleId>
              </a:tblPr>
              <a:tblGrid>
                <a:gridCol w="958850"/>
                <a:gridCol w="1409700"/>
                <a:gridCol w="1165860"/>
                <a:gridCol w="1605915"/>
                <a:gridCol w="1271270"/>
              </a:tblGrid>
              <a:tr h="914400">
                <a:tc>
                  <a:txBody>
                    <a:bodyPr/>
                    <a:lstStyle/>
                    <a:p>
                      <a:r>
                        <a:rPr lang="en-US" altLang="zh-CN" dirty="0">
                          <a:latin typeface="微软雅黑" panose="020B0503020204020204" charset="-122"/>
                          <a:ea typeface="微软雅黑" panose="020B0503020204020204" charset="-122"/>
                        </a:rPr>
                        <a:t>Dataset</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Mean relative error  %</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Std relative error %</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Mean absolute error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Std absolute error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r>
              <a:tr h="365760">
                <a:tc>
                  <a:txBody>
                    <a:bodyPr/>
                    <a:lstStyle/>
                    <a:p>
                      <a:r>
                        <a:rPr lang="en-US" altLang="zh-CN" dirty="0">
                          <a:latin typeface="微软雅黑" panose="020B0503020204020204" charset="-122"/>
                          <a:ea typeface="微软雅黑" panose="020B0503020204020204" charset="-122"/>
                        </a:rPr>
                        <a:t>0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16</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50</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-0.1</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0.37</a:t>
                      </a:r>
                      <a:endParaRPr lang="zh-CN" altLang="en-US" dirty="0">
                        <a:latin typeface="微软雅黑" panose="020B0503020204020204" charset="-122"/>
                        <a:ea typeface="微软雅黑" panose="020B0503020204020204" charset="-122"/>
                      </a:endParaRPr>
                    </a:p>
                  </a:txBody>
                  <a:tcPr/>
                </a:tc>
              </a:tr>
              <a:tr h="365760">
                <a:tc>
                  <a:txBody>
                    <a:bodyPr/>
                    <a:lstStyle/>
                    <a:p>
                      <a:r>
                        <a:rPr lang="en-US" altLang="zh-CN" dirty="0">
                          <a:latin typeface="微软雅黑" panose="020B0503020204020204" charset="-122"/>
                          <a:ea typeface="微软雅黑" panose="020B0503020204020204" charset="-122"/>
                        </a:rPr>
                        <a:t>10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2.4</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2.6</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0.25</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0.26</a:t>
                      </a:r>
                      <a:endParaRPr lang="zh-CN" altLang="en-US" dirty="0">
                        <a:latin typeface="微软雅黑" panose="020B0503020204020204" charset="-122"/>
                        <a:ea typeface="微软雅黑" panose="020B0503020204020204" charset="-122"/>
                      </a:endParaRPr>
                    </a:p>
                  </a:txBody>
                  <a:tcPr/>
                </a:tc>
              </a:tr>
              <a:tr h="365760">
                <a:tc>
                  <a:txBody>
                    <a:bodyPr/>
                    <a:lstStyle/>
                    <a:p>
                      <a:r>
                        <a:rPr lang="en-US" altLang="zh-CN" dirty="0">
                          <a:latin typeface="微软雅黑" panose="020B0503020204020204" charset="-122"/>
                          <a:ea typeface="微软雅黑" panose="020B0503020204020204" charset="-122"/>
                        </a:rPr>
                        <a:t>100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0.07</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0.26</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0.07</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0.25</a:t>
                      </a:r>
                      <a:endParaRPr lang="zh-CN" altLang="en-US" dirty="0">
                        <a:latin typeface="微软雅黑" panose="020B0503020204020204" charset="-122"/>
                        <a:ea typeface="微软雅黑" panose="020B0503020204020204" charset="-122"/>
                      </a:endParaRPr>
                    </a:p>
                  </a:txBody>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中心磁场</a:t>
            </a:r>
            <a:r>
              <a:rPr lang="en-US" altLang="zh-CN"/>
              <a:t>10μ</a:t>
            </a:r>
            <a:r>
              <a:rPr lang="en-US" altLang="zh-CN"/>
              <a:t>T</a:t>
            </a:r>
            <a:endParaRPr lang="en-US" altLang="zh-CN"/>
          </a:p>
        </p:txBody>
      </p:sp>
      <p:pic>
        <p:nvPicPr>
          <p:cNvPr id="4" name="内容占位符 3"/>
          <p:cNvPicPr>
            <a:picLocks noChangeAspect="1"/>
          </p:cNvPicPr>
          <p:nvPr>
            <p:ph idx="1"/>
          </p:nvPr>
        </p:nvPicPr>
        <p:blipFill>
          <a:blip r:embed="rId1"/>
          <a:srcRect l="-73" t="11178" r="8930" b="9237"/>
          <a:stretch>
            <a:fillRect/>
          </a:stretch>
        </p:blipFill>
        <p:spPr>
          <a:xfrm>
            <a:off x="53340" y="1791970"/>
            <a:ext cx="5674360" cy="4955540"/>
          </a:xfrm>
          <a:prstGeom prst="rect">
            <a:avLst/>
          </a:prstGeom>
        </p:spPr>
      </p:pic>
      <p:graphicFrame>
        <p:nvGraphicFramePr>
          <p:cNvPr id="13" name="表格 12"/>
          <p:cNvGraphicFramePr>
            <a:graphicFrameLocks noGrp="1"/>
          </p:cNvGraphicFramePr>
          <p:nvPr>
            <p:custDataLst>
              <p:tags r:id="rId2"/>
            </p:custDataLst>
          </p:nvPr>
        </p:nvGraphicFramePr>
        <p:xfrm>
          <a:off x="5481320" y="0"/>
          <a:ext cx="6710680" cy="2011680"/>
        </p:xfrm>
        <a:graphic>
          <a:graphicData uri="http://schemas.openxmlformats.org/drawingml/2006/table">
            <a:tbl>
              <a:tblPr firstRow="1" bandRow="1">
                <a:tableStyleId>{5C22544A-7EE6-4342-B048-85BDC9FD1C3A}</a:tableStyleId>
              </a:tblPr>
              <a:tblGrid>
                <a:gridCol w="1003935"/>
                <a:gridCol w="1475105"/>
                <a:gridCol w="1219835"/>
                <a:gridCol w="1680845"/>
                <a:gridCol w="1330960"/>
              </a:tblGrid>
              <a:tr h="914400">
                <a:tc>
                  <a:txBody>
                    <a:bodyPr/>
                    <a:lstStyle/>
                    <a:p>
                      <a:r>
                        <a:rPr lang="en-US" altLang="zh-CN" dirty="0">
                          <a:latin typeface="微软雅黑" panose="020B0503020204020204" charset="-122"/>
                          <a:ea typeface="微软雅黑" panose="020B0503020204020204" charset="-122"/>
                        </a:rPr>
                        <a:t>Dataset</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Mean relative error  %</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Std relative error %</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Mean absolute error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Std absolute error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r>
              <a:tr h="365760">
                <a:tc>
                  <a:txBody>
                    <a:bodyPr/>
                    <a:lstStyle/>
                    <a:p>
                      <a:r>
                        <a:rPr lang="en-US" altLang="zh-CN" dirty="0">
                          <a:latin typeface="微软雅黑" panose="020B0503020204020204" charset="-122"/>
                          <a:ea typeface="微软雅黑" panose="020B0503020204020204" charset="-122"/>
                        </a:rPr>
                        <a:t>0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16</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50</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-0.1</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0.37</a:t>
                      </a:r>
                      <a:endParaRPr lang="zh-CN" altLang="en-US" dirty="0">
                        <a:latin typeface="微软雅黑" panose="020B0503020204020204" charset="-122"/>
                        <a:ea typeface="微软雅黑" panose="020B0503020204020204" charset="-122"/>
                      </a:endParaRPr>
                    </a:p>
                  </a:txBody>
                  <a:tcPr/>
                </a:tc>
              </a:tr>
              <a:tr h="365760">
                <a:tc>
                  <a:txBody>
                    <a:bodyPr/>
                    <a:lstStyle/>
                    <a:p>
                      <a:r>
                        <a:rPr lang="en-US" altLang="zh-CN" dirty="0">
                          <a:latin typeface="微软雅黑" panose="020B0503020204020204" charset="-122"/>
                          <a:ea typeface="微软雅黑" panose="020B0503020204020204" charset="-122"/>
                        </a:rPr>
                        <a:t>10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2.4</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2.6</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0.25</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0.26</a:t>
                      </a:r>
                      <a:endParaRPr lang="zh-CN" altLang="en-US" dirty="0">
                        <a:latin typeface="微软雅黑" panose="020B0503020204020204" charset="-122"/>
                        <a:ea typeface="微软雅黑" panose="020B0503020204020204" charset="-122"/>
                      </a:endParaRPr>
                    </a:p>
                  </a:txBody>
                  <a:tcPr/>
                </a:tc>
              </a:tr>
              <a:tr h="365760">
                <a:tc>
                  <a:txBody>
                    <a:bodyPr/>
                    <a:lstStyle/>
                    <a:p>
                      <a:r>
                        <a:rPr lang="en-US" altLang="zh-CN" dirty="0">
                          <a:latin typeface="微软雅黑" panose="020B0503020204020204" charset="-122"/>
                          <a:ea typeface="微软雅黑" panose="020B0503020204020204" charset="-122"/>
                        </a:rPr>
                        <a:t>100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0.07</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0.26</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0.07</a:t>
                      </a:r>
                      <a:endParaRPr lang="zh-CN" altLang="en-US" dirty="0">
                        <a:latin typeface="微软雅黑" panose="020B0503020204020204" charset="-122"/>
                        <a:ea typeface="微软雅黑" panose="020B0503020204020204" charset="-122"/>
                      </a:endParaRPr>
                    </a:p>
                  </a:txBody>
                  <a:tcPr/>
                </a:tc>
                <a:tc>
                  <a:txBody>
                    <a:bodyPr/>
                    <a:lstStyle/>
                    <a:p>
                      <a:r>
                        <a:rPr lang="en-US" altLang="zh-CN" dirty="0">
                          <a:latin typeface="微软雅黑" panose="020B0503020204020204" charset="-122"/>
                          <a:ea typeface="微软雅黑" panose="020B0503020204020204" charset="-122"/>
                        </a:rPr>
                        <a:t>0.25</a:t>
                      </a:r>
                      <a:endParaRPr lang="zh-CN" altLang="en-US" dirty="0">
                        <a:latin typeface="微软雅黑" panose="020B0503020204020204" charset="-122"/>
                        <a:ea typeface="微软雅黑" panose="020B0503020204020204" charset="-122"/>
                      </a:endParaRPr>
                    </a:p>
                  </a:txBody>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中心磁场</a:t>
            </a:r>
            <a:r>
              <a:rPr lang="en-US" altLang="zh-CN"/>
              <a:t>0</a:t>
            </a:r>
            <a:r>
              <a:rPr lang="en-US" altLang="zh-CN"/>
              <a:t>μT</a:t>
            </a:r>
            <a:endParaRPr lang="en-US" altLang="zh-CN"/>
          </a:p>
        </p:txBody>
      </p:sp>
      <p:pic>
        <p:nvPicPr>
          <p:cNvPr id="4" name="内容占位符 3"/>
          <p:cNvPicPr>
            <a:picLocks noChangeAspect="1"/>
          </p:cNvPicPr>
          <p:nvPr>
            <p:ph idx="1"/>
          </p:nvPr>
        </p:nvPicPr>
        <p:blipFill>
          <a:blip r:embed="rId1"/>
          <a:srcRect l="204" t="11980" r="9499" b="8887"/>
          <a:stretch>
            <a:fillRect/>
          </a:stretch>
        </p:blipFill>
        <p:spPr>
          <a:xfrm>
            <a:off x="76200" y="1676400"/>
            <a:ext cx="5814060" cy="5095240"/>
          </a:xfrm>
          <a:prstGeom prst="rect">
            <a:avLst/>
          </a:prstGeom>
        </p:spPr>
      </p:pic>
      <p:graphicFrame>
        <p:nvGraphicFramePr>
          <p:cNvPr id="13" name="表格 12"/>
          <p:cNvGraphicFramePr>
            <a:graphicFrameLocks noGrp="1"/>
          </p:cNvGraphicFramePr>
          <p:nvPr>
            <p:custDataLst>
              <p:tags r:id="rId2"/>
            </p:custDataLst>
          </p:nvPr>
        </p:nvGraphicFramePr>
        <p:xfrm>
          <a:off x="5754370" y="67945"/>
          <a:ext cx="6388100" cy="2011680"/>
        </p:xfrm>
        <a:graphic>
          <a:graphicData uri="http://schemas.openxmlformats.org/drawingml/2006/table">
            <a:tbl>
              <a:tblPr firstRow="1" bandRow="1">
                <a:tableStyleId>{5C22544A-7EE6-4342-B048-85BDC9FD1C3A}</a:tableStyleId>
              </a:tblPr>
              <a:tblGrid>
                <a:gridCol w="944880"/>
                <a:gridCol w="1407795"/>
                <a:gridCol w="1162685"/>
                <a:gridCol w="1604010"/>
                <a:gridCol w="1268730"/>
              </a:tblGrid>
              <a:tr h="914400">
                <a:tc>
                  <a:txBody>
                    <a:bodyPr/>
                    <a:p>
                      <a:r>
                        <a:rPr lang="en-US" altLang="zh-CN" dirty="0">
                          <a:latin typeface="微软雅黑" panose="020B0503020204020204" charset="-122"/>
                          <a:ea typeface="微软雅黑" panose="020B0503020204020204" charset="-122"/>
                        </a:rPr>
                        <a:t>Dataset</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Mean relative error  %</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Std relative error %</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Mean absolute error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Std absolute error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r>
              <a:tr h="365760">
                <a:tc>
                  <a:txBody>
                    <a:bodyPr/>
                    <a:p>
                      <a:r>
                        <a:rPr lang="en-US" altLang="zh-CN" dirty="0">
                          <a:latin typeface="微软雅黑" panose="020B0503020204020204" charset="-122"/>
                          <a:ea typeface="微软雅黑" panose="020B0503020204020204" charset="-122"/>
                        </a:rPr>
                        <a:t>0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16</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50</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-0.1</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0.37</a:t>
                      </a:r>
                      <a:endParaRPr lang="zh-CN" altLang="en-US" dirty="0">
                        <a:latin typeface="微软雅黑" panose="020B0503020204020204" charset="-122"/>
                        <a:ea typeface="微软雅黑" panose="020B0503020204020204" charset="-122"/>
                      </a:endParaRPr>
                    </a:p>
                  </a:txBody>
                  <a:tcPr/>
                </a:tc>
              </a:tr>
              <a:tr h="365760">
                <a:tc>
                  <a:txBody>
                    <a:bodyPr/>
                    <a:p>
                      <a:r>
                        <a:rPr lang="en-US" altLang="zh-CN" dirty="0">
                          <a:latin typeface="微软雅黑" panose="020B0503020204020204" charset="-122"/>
                          <a:ea typeface="微软雅黑" panose="020B0503020204020204" charset="-122"/>
                        </a:rPr>
                        <a:t>10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2.4</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2.6</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0.25</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0.26</a:t>
                      </a:r>
                      <a:endParaRPr lang="zh-CN" altLang="en-US" dirty="0">
                        <a:latin typeface="微软雅黑" panose="020B0503020204020204" charset="-122"/>
                        <a:ea typeface="微软雅黑" panose="020B0503020204020204" charset="-122"/>
                      </a:endParaRPr>
                    </a:p>
                  </a:txBody>
                  <a:tcPr/>
                </a:tc>
              </a:tr>
              <a:tr h="365760">
                <a:tc>
                  <a:txBody>
                    <a:bodyPr/>
                    <a:p>
                      <a:r>
                        <a:rPr lang="en-US" altLang="zh-CN" dirty="0">
                          <a:latin typeface="微软雅黑" panose="020B0503020204020204" charset="-122"/>
                          <a:ea typeface="微软雅黑" panose="020B0503020204020204" charset="-122"/>
                        </a:rPr>
                        <a:t>100 </a:t>
                      </a:r>
                      <a:r>
                        <a:rPr lang="el-GR" altLang="zh-CN" dirty="0">
                          <a:latin typeface="微软雅黑" panose="020B0503020204020204" charset="-122"/>
                          <a:ea typeface="微软雅黑" panose="020B0503020204020204" charset="-122"/>
                        </a:rPr>
                        <a:t>μ</a:t>
                      </a:r>
                      <a:r>
                        <a:rPr lang="en-US" altLang="zh-CN" dirty="0">
                          <a:latin typeface="微软雅黑" panose="020B0503020204020204" charset="-122"/>
                          <a:ea typeface="微软雅黑" panose="020B0503020204020204" charset="-122"/>
                        </a:rPr>
                        <a:t>T</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0.07</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0.26</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0.07</a:t>
                      </a:r>
                      <a:endParaRPr lang="zh-CN" altLang="en-US" dirty="0">
                        <a:latin typeface="微软雅黑" panose="020B0503020204020204" charset="-122"/>
                        <a:ea typeface="微软雅黑" panose="020B0503020204020204" charset="-122"/>
                      </a:endParaRPr>
                    </a:p>
                  </a:txBody>
                  <a:tcPr/>
                </a:tc>
                <a:tc>
                  <a:txBody>
                    <a:bodyPr/>
                    <a:p>
                      <a:r>
                        <a:rPr lang="en-US" altLang="zh-CN" dirty="0">
                          <a:latin typeface="微软雅黑" panose="020B0503020204020204" charset="-122"/>
                          <a:ea typeface="微软雅黑" panose="020B0503020204020204" charset="-122"/>
                        </a:rPr>
                        <a:t>0.25</a:t>
                      </a:r>
                      <a:endParaRPr lang="zh-CN" altLang="en-US" dirty="0">
                        <a:latin typeface="微软雅黑" panose="020B0503020204020204" charset="-122"/>
                        <a:ea typeface="微软雅黑" panose="020B0503020204020204" charset="-122"/>
                      </a:endParaRPr>
                    </a:p>
                  </a:txBody>
                  <a:tcPr/>
                </a:tc>
              </a:tr>
            </a:tbl>
          </a:graphicData>
        </a:graphic>
      </p:graphicFrame>
      <p:sp>
        <p:nvSpPr>
          <p:cNvPr id="3" name="文本框 2"/>
          <p:cNvSpPr txBox="1"/>
          <p:nvPr/>
        </p:nvSpPr>
        <p:spPr>
          <a:xfrm>
            <a:off x="6532880" y="3450590"/>
            <a:ext cx="4904105" cy="1753235"/>
          </a:xfrm>
          <a:prstGeom prst="rect">
            <a:avLst/>
          </a:prstGeom>
          <a:noFill/>
        </p:spPr>
        <p:txBody>
          <a:bodyPr wrap="square" rtlCol="0">
            <a:spAutoFit/>
          </a:bodyPr>
          <a:p>
            <a:r>
              <a:rPr lang="zh-CN" altLang="en-US"/>
              <a:t>以上四个实验数据训练的模型均被打上了</a:t>
            </a:r>
            <a:r>
              <a:rPr lang="en-US" altLang="zh-CN"/>
              <a:t>best</a:t>
            </a:r>
            <a:r>
              <a:rPr lang="zh-CN" altLang="en-US"/>
              <a:t>标签，最具参考意义，可查看</a:t>
            </a:r>
            <a:r>
              <a:rPr lang="en-US" altLang="zh-CN"/>
              <a:t>config</a:t>
            </a:r>
            <a:r>
              <a:rPr lang="zh-CN" altLang="en-US"/>
              <a:t>文件。</a:t>
            </a:r>
            <a:endParaRPr lang="zh-CN" altLang="en-US"/>
          </a:p>
          <a:p>
            <a:endParaRPr lang="en-US" altLang="zh-CN"/>
          </a:p>
          <a:p>
            <a:endParaRPr lang="en-US" altLang="zh-CN"/>
          </a:p>
          <a:p>
            <a:r>
              <a:rPr lang="en-US" altLang="zh-CN"/>
              <a:t>./log/train</a:t>
            </a:r>
            <a:r>
              <a:rPr lang="zh-CN" altLang="en-US"/>
              <a:t>文件夹中有大量训练数据，但缺乏整理，且含调试文件，不建议仔细</a:t>
            </a:r>
            <a:r>
              <a:rPr lang="zh-CN" altLang="en-US"/>
              <a:t>参考。</a:t>
            </a:r>
            <a:endParaRPr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进展：使用磁标势模型消除</a:t>
            </a:r>
            <a:r>
              <a:rPr lang="zh-CN" altLang="en-US"/>
              <a:t>旋度</a:t>
            </a:r>
            <a:endParaRPr lang="zh-CN" altLang="en-US"/>
          </a:p>
        </p:txBody>
      </p:sp>
      <p:sp>
        <p:nvSpPr>
          <p:cNvPr id="3" name="内容占位符 2"/>
          <p:cNvSpPr>
            <a:spLocks noGrp="1"/>
          </p:cNvSpPr>
          <p:nvPr>
            <p:ph idx="1"/>
          </p:nvPr>
        </p:nvSpPr>
        <p:spPr/>
        <p:txBody>
          <a:bodyPr/>
          <a:p>
            <a:r>
              <a:rPr lang="zh-CN" altLang="en-US"/>
              <a:t>结果已经存入</a:t>
            </a:r>
            <a:r>
              <a:rPr lang="en-US" altLang="zh-CN"/>
              <a:t>model</a:t>
            </a:r>
            <a:r>
              <a:rPr lang="zh-CN" altLang="en-US"/>
              <a:t>程序中</a:t>
            </a:r>
            <a:endParaRPr lang="zh-CN" altLang="en-US"/>
          </a:p>
          <a:p>
            <a:r>
              <a:rPr lang="en-US" altLang="zh-CN"/>
              <a:t>model_type=phi</a:t>
            </a:r>
            <a:r>
              <a:rPr lang="zh-CN" altLang="en-US"/>
              <a:t>即可</a:t>
            </a:r>
            <a:r>
              <a:rPr lang="zh-CN" altLang="en-US"/>
              <a:t>调用</a:t>
            </a:r>
            <a:endParaRPr lang="zh-CN" altLang="en-US"/>
          </a:p>
          <a:p>
            <a:r>
              <a:rPr lang="zh-CN" altLang="en-US"/>
              <a:t>在理想情况下更高的计算</a:t>
            </a:r>
            <a:r>
              <a:rPr lang="zh-CN" altLang="en-US"/>
              <a:t>精度</a:t>
            </a:r>
            <a:endParaRPr lang="zh-CN" altLang="en-US"/>
          </a:p>
          <a:p>
            <a:r>
              <a:rPr lang="zh-CN" altLang="en-US"/>
              <a:t>在任何情况下更多的计算</a:t>
            </a:r>
            <a:r>
              <a:rPr lang="zh-CN" altLang="en-US"/>
              <a:t>时间</a:t>
            </a:r>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进展：硬</a:t>
            </a:r>
            <a:r>
              <a:rPr lang="en-US" altLang="zh-CN"/>
              <a:t>PINN--</a:t>
            </a:r>
            <a:r>
              <a:rPr lang="zh-CN" altLang="en-US"/>
              <a:t>边界损失</a:t>
            </a:r>
            <a:r>
              <a:rPr lang="zh-CN" altLang="en-US"/>
              <a:t>消除</a:t>
            </a:r>
            <a:endParaRPr lang="zh-CN" altLang="en-US"/>
          </a:p>
        </p:txBody>
      </p:sp>
      <p:sp>
        <p:nvSpPr>
          <p:cNvPr id="3" name="内容占位符 2"/>
          <p:cNvSpPr>
            <a:spLocks noGrp="1"/>
          </p:cNvSpPr>
          <p:nvPr>
            <p:ph idx="1"/>
          </p:nvPr>
        </p:nvSpPr>
        <p:spPr/>
        <p:txBody>
          <a:bodyPr>
            <a:normAutofit lnSpcReduction="10000"/>
          </a:bodyPr>
          <a:p>
            <a:r>
              <a:rPr lang="zh-CN" altLang="en-US"/>
              <a:t>通过数学</a:t>
            </a:r>
            <a:r>
              <a:rPr lang="zh-CN" altLang="en-US"/>
              <a:t>变换</a:t>
            </a:r>
            <a:endParaRPr lang="zh-CN" altLang="en-US"/>
          </a:p>
          <a:p>
            <a:endParaRPr lang="zh-CN" altLang="en-US"/>
          </a:p>
          <a:p>
            <a:endParaRPr lang="zh-CN" altLang="en-US"/>
          </a:p>
          <a:p>
            <a:endParaRPr lang="zh-CN" altLang="en-US"/>
          </a:p>
          <a:p>
            <a:endParaRPr lang="zh-CN" altLang="en-US"/>
          </a:p>
          <a:p>
            <a:endParaRPr lang="zh-CN" altLang="en-US"/>
          </a:p>
          <a:p>
            <a:r>
              <a:rPr lang="zh-CN" altLang="en-US"/>
              <a:t>其中</a:t>
            </a:r>
            <a:r>
              <a:rPr lang="en-US" altLang="zh-CN"/>
              <a:t>j</a:t>
            </a:r>
            <a:r>
              <a:rPr lang="zh-CN" altLang="en-US"/>
              <a:t>是第</a:t>
            </a:r>
            <a:r>
              <a:rPr lang="en-US" altLang="zh-CN"/>
              <a:t>j</a:t>
            </a:r>
            <a:r>
              <a:rPr lang="zh-CN" altLang="en-US"/>
              <a:t>个空间分量，</a:t>
            </a:r>
            <a:r>
              <a:rPr lang="en-US" altLang="zh-CN"/>
              <a:t>k</a:t>
            </a:r>
            <a:r>
              <a:rPr lang="zh-CN" altLang="en-US"/>
              <a:t>是第</a:t>
            </a:r>
            <a:r>
              <a:rPr lang="en-US" altLang="zh-CN"/>
              <a:t>k</a:t>
            </a:r>
            <a:r>
              <a:rPr lang="zh-CN" altLang="en-US"/>
              <a:t>个</a:t>
            </a:r>
            <a:r>
              <a:rPr lang="zh-CN" altLang="en-US"/>
              <a:t>约束。</a:t>
            </a:r>
            <a:endParaRPr lang="zh-CN" altLang="en-US"/>
          </a:p>
          <a:p>
            <a:r>
              <a:rPr lang="zh-CN" altLang="en-US"/>
              <a:t>确保边界条件强制满足。</a:t>
            </a:r>
            <a:endParaRPr lang="zh-CN" altLang="en-US"/>
          </a:p>
          <a:p>
            <a:r>
              <a:rPr lang="zh-CN" altLang="en-US"/>
              <a:t>问题：数值</a:t>
            </a:r>
            <a:r>
              <a:rPr lang="zh-CN" altLang="en-US"/>
              <a:t>不稳定！</a:t>
            </a:r>
            <a:endParaRPr lang="zh-CN" altLang="en-US"/>
          </a:p>
        </p:txBody>
      </p:sp>
      <p:pic>
        <p:nvPicPr>
          <p:cNvPr id="5" name="图片 4" descr="QianJianTec1741149149396"/>
          <p:cNvPicPr>
            <a:picLocks noChangeAspect="1"/>
          </p:cNvPicPr>
          <p:nvPr/>
        </p:nvPicPr>
        <p:blipFill>
          <a:blip r:embed="rId1"/>
          <a:stretch>
            <a:fillRect/>
          </a:stretch>
        </p:blipFill>
        <p:spPr>
          <a:xfrm>
            <a:off x="6299835" y="2680970"/>
            <a:ext cx="3573145" cy="681990"/>
          </a:xfrm>
          <a:prstGeom prst="rect">
            <a:avLst/>
          </a:prstGeom>
        </p:spPr>
      </p:pic>
      <p:pic>
        <p:nvPicPr>
          <p:cNvPr id="6" name="图片 5" descr="QianJianTec1741149205917"/>
          <p:cNvPicPr>
            <a:picLocks noChangeAspect="1"/>
          </p:cNvPicPr>
          <p:nvPr/>
        </p:nvPicPr>
        <p:blipFill>
          <a:blip r:embed="rId2"/>
          <a:stretch>
            <a:fillRect/>
          </a:stretch>
        </p:blipFill>
        <p:spPr>
          <a:xfrm>
            <a:off x="4596130" y="3787775"/>
            <a:ext cx="2700655" cy="493395"/>
          </a:xfrm>
          <a:prstGeom prst="rect">
            <a:avLst/>
          </a:prstGeom>
        </p:spPr>
      </p:pic>
      <p:pic>
        <p:nvPicPr>
          <p:cNvPr id="7" name="图片 6" descr="QianJianTec1741149297591"/>
          <p:cNvPicPr>
            <a:picLocks noChangeAspect="1"/>
          </p:cNvPicPr>
          <p:nvPr/>
        </p:nvPicPr>
        <p:blipFill>
          <a:blip r:embed="rId3"/>
          <a:stretch>
            <a:fillRect/>
          </a:stretch>
        </p:blipFill>
        <p:spPr>
          <a:xfrm>
            <a:off x="1181100" y="2486660"/>
            <a:ext cx="4686300" cy="107061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进展：集成</a:t>
            </a:r>
            <a:r>
              <a:rPr lang="zh-CN" altLang="en-US"/>
              <a:t>模型</a:t>
            </a:r>
            <a:endParaRPr lang="zh-CN" altLang="en-US"/>
          </a:p>
        </p:txBody>
      </p:sp>
      <p:sp>
        <p:nvSpPr>
          <p:cNvPr id="3" name="内容占位符 2"/>
          <p:cNvSpPr>
            <a:spLocks noGrp="1"/>
          </p:cNvSpPr>
          <p:nvPr>
            <p:ph idx="1"/>
          </p:nvPr>
        </p:nvSpPr>
        <p:spPr/>
        <p:txBody>
          <a:bodyPr/>
          <a:p>
            <a:r>
              <a:rPr lang="zh-CN" altLang="en-US"/>
              <a:t>训练多个模型联合预测，</a:t>
            </a:r>
            <a:r>
              <a:rPr lang="en-US" altLang="zh-CN"/>
              <a:t>5</a:t>
            </a:r>
            <a:r>
              <a:rPr lang="zh-CN" altLang="en-US"/>
              <a:t>模型可提升精度</a:t>
            </a:r>
            <a:r>
              <a:rPr lang="en-US" altLang="zh-CN"/>
              <a:t>50%</a:t>
            </a:r>
            <a:endParaRPr lang="en-US" altLang="zh-CN"/>
          </a:p>
          <a:p>
            <a:r>
              <a:rPr lang="zh-CN" altLang="en-US"/>
              <a:t>调节</a:t>
            </a:r>
            <a:r>
              <a:rPr lang="en-US" altLang="zh-CN"/>
              <a:t>N_models</a:t>
            </a:r>
            <a:r>
              <a:rPr lang="zh-CN" altLang="en-US"/>
              <a:t>参数即可增加模型</a:t>
            </a:r>
            <a:r>
              <a:rPr lang="zh-CN" altLang="en-US"/>
              <a:t>数量</a:t>
            </a:r>
            <a:endParaRPr lang="zh-CN" altLang="en-US"/>
          </a:p>
          <a:p>
            <a:r>
              <a:rPr lang="zh-CN" altLang="en-US"/>
              <a:t>调节预测方法</a:t>
            </a:r>
            <a:r>
              <a:rPr lang="en-US" altLang="zh-CN"/>
              <a:t>:mean,nearest,adjust_nearest</a:t>
            </a:r>
            <a:r>
              <a:rPr lang="zh-CN" altLang="en-US"/>
              <a:t>，三种表现</a:t>
            </a:r>
            <a:r>
              <a:rPr lang="zh-CN" altLang="en-US"/>
              <a:t>相近</a:t>
            </a:r>
            <a:endParaRPr lang="zh-CN" altLang="en-US"/>
          </a:p>
          <a:p>
            <a:r>
              <a:rPr lang="zh-CN" altLang="en-US"/>
              <a:t>调节训练方法：</a:t>
            </a:r>
            <a:r>
              <a:rPr lang="en-US" altLang="zh-CN"/>
              <a:t>random_sample</a:t>
            </a:r>
            <a:r>
              <a:rPr lang="zh-CN" altLang="en-US"/>
              <a:t>可提高前一个模型表现不佳的数据在后一个模型训练集中出现的频率，效果</a:t>
            </a:r>
            <a:r>
              <a:rPr lang="zh-CN" altLang="en-US"/>
              <a:t>不显</a:t>
            </a:r>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进展：误差</a:t>
            </a:r>
            <a:r>
              <a:rPr lang="zh-CN" altLang="en-US"/>
              <a:t>估计</a:t>
            </a:r>
            <a:endParaRPr lang="zh-CN" altLang="en-US"/>
          </a:p>
        </p:txBody>
      </p:sp>
      <p:sp>
        <p:nvSpPr>
          <p:cNvPr id="3" name="内容占位符 2"/>
          <p:cNvSpPr>
            <a:spLocks noGrp="1"/>
          </p:cNvSpPr>
          <p:nvPr>
            <p:ph idx="1"/>
          </p:nvPr>
        </p:nvSpPr>
        <p:spPr/>
        <p:txBody>
          <a:bodyPr>
            <a:normAutofit fontScale="90000"/>
          </a:bodyPr>
          <a:p>
            <a:r>
              <a:rPr lang="zh-CN" altLang="en-US"/>
              <a:t>误差传播</a:t>
            </a:r>
            <a:r>
              <a:rPr lang="zh-CN" altLang="en-US"/>
              <a:t>公式：</a:t>
            </a:r>
            <a:endParaRPr lang="zh-CN" altLang="en-US"/>
          </a:p>
          <a:p>
            <a:pPr marL="0" indent="0">
              <a:buNone/>
            </a:pPr>
            <a:endParaRPr lang="en-US" altLang="zh-CN"/>
          </a:p>
          <a:p>
            <a:pPr marL="0" indent="0">
              <a:buNone/>
            </a:pPr>
            <a:r>
              <a:rPr lang="en-US" altLang="zh-CN"/>
              <a:t>error</a:t>
            </a:r>
            <a:r>
              <a:rPr lang="zh-CN" altLang="en-US"/>
              <a:t>函数通过此公式来估计坐标测量误差引起的预测结果</a:t>
            </a:r>
            <a:r>
              <a:rPr lang="zh-CN" altLang="en-US"/>
              <a:t>误差</a:t>
            </a:r>
            <a:endParaRPr lang="zh-CN" altLang="en-US"/>
          </a:p>
          <a:p>
            <a:endParaRPr lang="zh-CN" altLang="en-US"/>
          </a:p>
          <a:p>
            <a:r>
              <a:rPr lang="zh-CN" altLang="en-US"/>
              <a:t>蒙特卡洛：</a:t>
            </a:r>
            <a:endParaRPr lang="zh-CN" altLang="en-US"/>
          </a:p>
          <a:p>
            <a:pPr marL="0" indent="0">
              <a:lnSpc>
                <a:spcPct val="110000"/>
              </a:lnSpc>
              <a:buNone/>
            </a:pPr>
            <a:r>
              <a:rPr lang="en-US" altLang="zh-CN" sz="2700"/>
              <a:t>error_MonteCarlo</a:t>
            </a:r>
            <a:r>
              <a:rPr lang="zh-CN" altLang="en-US" sz="2700"/>
              <a:t>通过往坐标数据中加入均匀噪声估计</a:t>
            </a:r>
            <a:r>
              <a:rPr lang="zh-CN" altLang="en-US" sz="2700">
                <a:sym typeface="+mn-ea"/>
              </a:rPr>
              <a:t>坐标测量误差引起的预测结果误差</a:t>
            </a:r>
            <a:endParaRPr lang="zh-CN" altLang="en-US" sz="2700">
              <a:sym typeface="+mn-ea"/>
            </a:endParaRPr>
          </a:p>
          <a:p>
            <a:pPr marL="0" indent="0">
              <a:lnSpc>
                <a:spcPct val="110000"/>
              </a:lnSpc>
              <a:buNone/>
            </a:pPr>
            <a:r>
              <a:rPr lang="en-US" altLang="zh-CN" sz="2700">
                <a:sym typeface="+mn-ea"/>
              </a:rPr>
              <a:t>error_field</a:t>
            </a:r>
            <a:r>
              <a:rPr lang="zh-CN" altLang="en-US" sz="2700">
                <a:sym typeface="+mn-ea"/>
              </a:rPr>
              <a:t>通过往训练用磁场数据中加入均匀噪声，用含噪数据微调多个模型来估计磁场测量误差引起的预测结果误差，且减去空白对照组</a:t>
            </a:r>
            <a:endParaRPr lang="zh-CN" altLang="en-US" sz="2700"/>
          </a:p>
          <a:p>
            <a:pPr marL="0" indent="0">
              <a:buNone/>
            </a:pPr>
            <a:endParaRPr lang="zh-CN" altLang="en-US" sz="2700"/>
          </a:p>
        </p:txBody>
      </p:sp>
      <p:graphicFrame>
        <p:nvGraphicFramePr>
          <p:cNvPr id="6" name="对象 5">
            <a:hlinkClick r:id="" action="ppaction://ole?verb="/>
          </p:cNvPr>
          <p:cNvGraphicFramePr>
            <a:graphicFrameLocks noChangeAspect="1"/>
          </p:cNvGraphicFramePr>
          <p:nvPr/>
        </p:nvGraphicFramePr>
        <p:xfrm>
          <a:off x="3512820" y="1510665"/>
          <a:ext cx="2367915" cy="1052195"/>
        </p:xfrm>
        <a:graphic>
          <a:graphicData uri="http://schemas.openxmlformats.org/presentationml/2006/ole">
            <mc:AlternateContent xmlns:mc="http://schemas.openxmlformats.org/markup-compatibility/2006">
              <mc:Choice xmlns:v="urn:schemas-microsoft-com:vml" Requires="v">
                <p:oleObj spid="_x0000_s1025" name="" r:id="rId1" imgW="1257300" imgH="558800" progId="Equation.KSEE3">
                  <p:embed/>
                </p:oleObj>
              </mc:Choice>
              <mc:Fallback>
                <p:oleObj name="" r:id="rId1" imgW="1257300" imgH="558800" progId="Equation.KSEE3">
                  <p:embed/>
                  <p:pic>
                    <p:nvPicPr>
                      <p:cNvPr id="0" name="图片 1024"/>
                      <p:cNvPicPr/>
                      <p:nvPr/>
                    </p:nvPicPr>
                    <p:blipFill>
                      <a:blip r:embed="rId2"/>
                      <a:stretch>
                        <a:fillRect/>
                      </a:stretch>
                    </p:blipFill>
                    <p:spPr>
                      <a:xfrm>
                        <a:off x="3512820" y="1510665"/>
                        <a:ext cx="2367915" cy="1052195"/>
                      </a:xfrm>
                      <a:prstGeom prst="rect">
                        <a:avLst/>
                      </a:prstGeom>
                    </p:spPr>
                  </p:pic>
                </p:oleObj>
              </mc:Fallback>
            </mc:AlternateContent>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897890" y="63500"/>
            <a:ext cx="10515600" cy="1325563"/>
          </a:xfrm>
        </p:spPr>
        <p:txBody>
          <a:bodyPr/>
          <a:p>
            <a:r>
              <a:rPr lang="zh-CN" altLang="en-US"/>
              <a:t>进展：参数</a:t>
            </a:r>
            <a:r>
              <a:rPr lang="zh-CN" altLang="en-US"/>
              <a:t>建议</a:t>
            </a:r>
            <a:endParaRPr lang="zh-CN" altLang="en-US"/>
          </a:p>
        </p:txBody>
      </p:sp>
      <p:sp>
        <p:nvSpPr>
          <p:cNvPr id="3" name="内容占位符 2"/>
          <p:cNvSpPr>
            <a:spLocks noGrp="1"/>
          </p:cNvSpPr>
          <p:nvPr>
            <p:ph idx="1"/>
          </p:nvPr>
        </p:nvSpPr>
        <p:spPr>
          <a:xfrm>
            <a:off x="838200" y="1286510"/>
            <a:ext cx="10515600" cy="4890770"/>
          </a:xfrm>
        </p:spPr>
        <p:txBody>
          <a:bodyPr>
            <a:normAutofit lnSpcReduction="20000"/>
          </a:bodyPr>
          <a:p>
            <a:pPr>
              <a:lnSpc>
                <a:spcPct val="100000"/>
              </a:lnSpc>
            </a:pPr>
            <a:r>
              <a:rPr lang="en-US" altLang="zh-CN" sz="2400"/>
              <a:t>model_mode=B</a:t>
            </a:r>
            <a:r>
              <a:rPr lang="zh-CN" altLang="en-US" sz="2400"/>
              <a:t>，若模拟数据可尝试</a:t>
            </a:r>
            <a:r>
              <a:rPr lang="en-US" altLang="zh-CN" sz="2400"/>
              <a:t>model_mode=phi</a:t>
            </a:r>
            <a:endParaRPr lang="en-US" altLang="zh-CN" sz="2400"/>
          </a:p>
          <a:p>
            <a:pPr>
              <a:lnSpc>
                <a:spcPct val="100000"/>
              </a:lnSpc>
            </a:pPr>
            <a:r>
              <a:rPr lang="en-US" altLang="zh-CN" sz="2400"/>
              <a:t>add_BC</a:t>
            </a:r>
            <a:r>
              <a:rPr lang="zh-CN" altLang="en-US" sz="2400"/>
              <a:t>可大幅提升，建议开启，若无提升则暗示数据质量</a:t>
            </a:r>
            <a:r>
              <a:rPr lang="zh-CN" altLang="en-US" sz="2400"/>
              <a:t>问题</a:t>
            </a:r>
            <a:endParaRPr lang="zh-CN" altLang="en-US" sz="2400"/>
          </a:p>
          <a:p>
            <a:pPr>
              <a:lnSpc>
                <a:spcPct val="100000"/>
              </a:lnSpc>
            </a:pPr>
            <a:r>
              <a:rPr lang="en-US" altLang="zh-CN" sz="2400"/>
              <a:t>standard</a:t>
            </a:r>
            <a:r>
              <a:rPr lang="zh-CN" altLang="en-US" sz="2400"/>
              <a:t>和</a:t>
            </a:r>
            <a:r>
              <a:rPr lang="en-US" altLang="zh-CN" sz="2400"/>
              <a:t>data_standard</a:t>
            </a:r>
            <a:r>
              <a:rPr lang="zh-CN" altLang="en-US" sz="2400"/>
              <a:t>通常提升，建议开启</a:t>
            </a:r>
            <a:endParaRPr lang="zh-CN" altLang="en-US" sz="2400"/>
          </a:p>
          <a:p>
            <a:pPr>
              <a:lnSpc>
                <a:spcPct val="100000"/>
              </a:lnSpc>
            </a:pPr>
            <a:r>
              <a:rPr lang="en-US" altLang="zh-CN" sz="2400">
                <a:sym typeface="+mn-ea"/>
              </a:rPr>
              <a:t>lambda=1</a:t>
            </a:r>
            <a:endParaRPr lang="en-US" altLang="zh-CN" sz="2400"/>
          </a:p>
          <a:p>
            <a:pPr>
              <a:lnSpc>
                <a:spcPct val="100000"/>
              </a:lnSpc>
            </a:pPr>
            <a:r>
              <a:rPr lang="en-US" altLang="zh-CN" sz="2400">
                <a:sym typeface="+mn-ea"/>
              </a:rPr>
              <a:t>N_pde</a:t>
            </a:r>
            <a:r>
              <a:rPr lang="zh-CN" altLang="en-US" sz="2400">
                <a:sym typeface="+mn-ea"/>
              </a:rPr>
              <a:t>通常增高后会引起小幅提升，但大幅延长时间</a:t>
            </a:r>
            <a:endParaRPr lang="en-US" altLang="zh-CN" sz="2400"/>
          </a:p>
          <a:p>
            <a:pPr>
              <a:lnSpc>
                <a:spcPct val="100000"/>
              </a:lnSpc>
            </a:pPr>
            <a:r>
              <a:rPr lang="en-US" altLang="zh-CN" sz="2400">
                <a:sym typeface="+mn-ea"/>
              </a:rPr>
              <a:t>random_sample</a:t>
            </a:r>
            <a:r>
              <a:rPr lang="zh-CN" altLang="en-US" sz="2400">
                <a:sym typeface="+mn-ea"/>
              </a:rPr>
              <a:t>单模型无影响，多模型影响不大</a:t>
            </a:r>
            <a:endParaRPr lang="zh-CN" altLang="en-US" sz="2400"/>
          </a:p>
          <a:p>
            <a:pPr>
              <a:lnSpc>
                <a:spcPct val="100000"/>
              </a:lnSpc>
            </a:pPr>
            <a:r>
              <a:rPr lang="zh-CN" altLang="en-US" sz="2400"/>
              <a:t>实验数据</a:t>
            </a:r>
            <a:r>
              <a:rPr lang="en-US" altLang="zh-CN" sz="2400"/>
              <a:t>units=16/32,layers=2</a:t>
            </a:r>
            <a:r>
              <a:rPr lang="zh-CN" altLang="en-US" sz="2400"/>
              <a:t>即可，数据缺乏</a:t>
            </a:r>
            <a:r>
              <a:rPr lang="zh-CN" altLang="en-US" sz="2400"/>
              <a:t>且含</a:t>
            </a:r>
            <a:r>
              <a:rPr lang="zh-CN" altLang="en-US" sz="2400"/>
              <a:t>噪情况下用小模型</a:t>
            </a:r>
            <a:endParaRPr lang="zh-CN" altLang="en-US" sz="2400"/>
          </a:p>
          <a:p>
            <a:pPr>
              <a:lnSpc>
                <a:spcPct val="100000"/>
              </a:lnSpc>
            </a:pPr>
            <a:r>
              <a:rPr lang="zh-CN" altLang="en-US" sz="2400"/>
              <a:t>模拟数据可提升模型大小</a:t>
            </a:r>
            <a:endParaRPr lang="zh-CN" altLang="en-US" sz="2400"/>
          </a:p>
          <a:p>
            <a:pPr>
              <a:lnSpc>
                <a:spcPct val="100000"/>
              </a:lnSpc>
            </a:pPr>
            <a:r>
              <a:rPr lang="zh-CN" altLang="en-US" sz="2400"/>
              <a:t>模拟情况</a:t>
            </a:r>
            <a:r>
              <a:rPr lang="en-US" altLang="zh-CN" sz="2400"/>
              <a:t>inner_sample</a:t>
            </a:r>
            <a:r>
              <a:rPr lang="zh-CN" altLang="en-US" sz="2400"/>
              <a:t>可大幅提升，因探测器有一部分深入</a:t>
            </a:r>
            <a:r>
              <a:rPr lang="zh-CN" altLang="en-US" sz="2400"/>
              <a:t>内部</a:t>
            </a:r>
            <a:endParaRPr lang="zh-CN" altLang="en-US" sz="2400"/>
          </a:p>
          <a:p>
            <a:pPr>
              <a:lnSpc>
                <a:spcPct val="100000"/>
              </a:lnSpc>
            </a:pPr>
            <a:r>
              <a:rPr lang="zh-CN" altLang="en-US" sz="2400"/>
              <a:t>模拟情况提高</a:t>
            </a:r>
            <a:r>
              <a:rPr lang="en-US" altLang="zh-CN" sz="2400"/>
              <a:t>N_samples</a:t>
            </a:r>
            <a:r>
              <a:rPr lang="zh-CN" altLang="en-US" sz="2400"/>
              <a:t>和缩小</a:t>
            </a:r>
            <a:r>
              <a:rPr lang="en-US" altLang="zh-CN" sz="2400"/>
              <a:t>length</a:t>
            </a:r>
            <a:r>
              <a:rPr lang="zh-CN" altLang="en-US" sz="2400"/>
              <a:t>会大幅提升表现，但实验难以实现</a:t>
            </a:r>
            <a:endParaRPr lang="zh-CN" altLang="en-US" sz="2400"/>
          </a:p>
          <a:p>
            <a:pPr>
              <a:lnSpc>
                <a:spcPct val="100000"/>
              </a:lnSpc>
            </a:pPr>
            <a:r>
              <a:rPr lang="en-US" altLang="zh-CN" sz="2400">
                <a:sym typeface="+mn-ea"/>
              </a:rPr>
              <a:t>train_sampling</a:t>
            </a:r>
            <a:r>
              <a:rPr lang="zh-CN" altLang="en-US" sz="2400">
                <a:sym typeface="+mn-ea"/>
              </a:rPr>
              <a:t>是模拟数据在方盒上的采样方式，影响不大</a:t>
            </a:r>
            <a:endParaRPr lang="zh-CN" altLang="en-US" sz="2400"/>
          </a:p>
          <a:p>
            <a:endParaRPr lang="zh-CN" altLang="en-US"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进展：</a:t>
            </a:r>
            <a:r>
              <a:rPr lang="en-US" altLang="zh-CN"/>
              <a:t>deepOnet</a:t>
            </a:r>
            <a:endParaRPr lang="en-US" altLang="zh-CN"/>
          </a:p>
        </p:txBody>
      </p:sp>
      <p:sp>
        <p:nvSpPr>
          <p:cNvPr id="3" name="内容占位符 2"/>
          <p:cNvSpPr>
            <a:spLocks noGrp="1"/>
          </p:cNvSpPr>
          <p:nvPr>
            <p:ph idx="1"/>
          </p:nvPr>
        </p:nvSpPr>
        <p:spPr/>
        <p:txBody>
          <a:bodyPr/>
          <a:p>
            <a:r>
              <a:rPr lang="zh-CN" altLang="en-US">
                <a:sym typeface="+mn-ea"/>
              </a:rPr>
              <a:t>Lu, L., Jin, P., Pang, G. et al. Learning nonlinear operators via DeepONet based on the universal approximation theorem of operators. Nat Mach Intell 3, 218–229 (2021). https://doi.org/10.1038/s42256-021-00302-5</a:t>
            </a:r>
            <a:endParaRPr lang="zh-CN" altLang="en-US"/>
          </a:p>
          <a:p>
            <a:r>
              <a:rPr lang="zh-CN" altLang="en-US">
                <a:sym typeface="+mn-ea"/>
              </a:rPr>
              <a:t>具有单个隐藏层的神经网络可以准确逼近任何非线性连续算子。</a:t>
            </a:r>
            <a:endParaRPr lang="zh-CN" altLang="en-US"/>
          </a:p>
          <a:p>
            <a:r>
              <a:rPr lang="zh-CN" altLang="en-US">
                <a:sym typeface="+mn-ea"/>
              </a:rPr>
              <a:t>设计了一种新的网络结构，即具有小泛化误差的深层算子网络(DeepONet)，它由一个用于编码离散输入函数空间的DNN(分支网络)和另一个用于编码输出函数域的DNN(主干网络)组成。</a:t>
            </a:r>
            <a:endParaRPr lang="zh-CN" altLang="en-US"/>
          </a:p>
          <a:p>
            <a:r>
              <a:rPr lang="zh-CN" altLang="en-US">
                <a:sym typeface="+mn-ea"/>
              </a:rPr>
              <a:t>证明了DeepONet可以学习各种显式算子，如积分和分数拉普拉斯算子，以及代表确定性和随机微分方程的隐式算子。</a:t>
            </a:r>
            <a:endParaRPr lang="zh-CN" altLang="en-US"/>
          </a:p>
          <a:p>
            <a:endParaRPr lang="zh-CN" alt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进展：</a:t>
            </a:r>
            <a:r>
              <a:rPr lang="en-US" altLang="zh-CN"/>
              <a:t>deepOnet_conv</a:t>
            </a:r>
            <a:endParaRPr lang="en-US" altLang="zh-CN"/>
          </a:p>
        </p:txBody>
      </p:sp>
      <p:sp>
        <p:nvSpPr>
          <p:cNvPr id="3" name="内容占位符 2"/>
          <p:cNvSpPr>
            <a:spLocks noGrp="1"/>
          </p:cNvSpPr>
          <p:nvPr>
            <p:ph idx="1"/>
          </p:nvPr>
        </p:nvSpPr>
        <p:spPr/>
        <p:txBody>
          <a:bodyPr/>
          <a:p>
            <a:r>
              <a:rPr lang="zh-CN" altLang="en-US"/>
              <a:t>设计了由卷积层驱动的</a:t>
            </a:r>
            <a:r>
              <a:rPr lang="en-US" altLang="zh-CN"/>
              <a:t>deepOnet</a:t>
            </a:r>
            <a:endParaRPr lang="en-US" altLang="zh-CN"/>
          </a:p>
          <a:p>
            <a:r>
              <a:rPr lang="zh-CN" altLang="en-US"/>
              <a:t>需要数据</a:t>
            </a:r>
            <a:r>
              <a:rPr lang="zh-CN" altLang="en-US"/>
              <a:t>在网格</a:t>
            </a:r>
            <a:r>
              <a:rPr lang="zh-CN" altLang="en-US"/>
              <a:t>上</a:t>
            </a:r>
            <a:endParaRPr lang="zh-CN" altLang="en-US"/>
          </a:p>
          <a:p>
            <a:r>
              <a:rPr lang="zh-CN" altLang="en-US"/>
              <a:t>目前未见明显</a:t>
            </a:r>
            <a:r>
              <a:rPr lang="zh-CN" altLang="en-US"/>
              <a:t>提升</a:t>
            </a:r>
            <a:endParaRPr lang="zh-CN" altLang="en-US"/>
          </a:p>
          <a:p>
            <a:r>
              <a:rPr lang="zh-CN" altLang="en-US"/>
              <a:t>建议使用</a:t>
            </a:r>
            <a:r>
              <a:rPr lang="en-US" altLang="zh-CN"/>
              <a:t>deepOnet_linear</a:t>
            </a:r>
            <a:endParaRPr lang="en-US" altLang="zh-CN"/>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进展：</a:t>
            </a:r>
            <a:r>
              <a:rPr lang="en-US" altLang="zh-CN"/>
              <a:t>deepOnet </a:t>
            </a:r>
            <a:r>
              <a:rPr lang="en-US" altLang="zh-CN"/>
              <a:t>randomization</a:t>
            </a:r>
            <a:endParaRPr lang="en-US" altLang="zh-CN"/>
          </a:p>
        </p:txBody>
      </p:sp>
      <p:pic>
        <p:nvPicPr>
          <p:cNvPr id="4" name="内容占位符 3"/>
          <p:cNvPicPr>
            <a:picLocks noChangeAspect="1"/>
          </p:cNvPicPr>
          <p:nvPr>
            <p:ph idx="1"/>
          </p:nvPr>
        </p:nvPicPr>
        <p:blipFill>
          <a:blip r:embed="rId1"/>
          <a:srcRect l="5464" t="11203" r="9492" b="5718"/>
          <a:stretch>
            <a:fillRect/>
          </a:stretch>
        </p:blipFill>
        <p:spPr>
          <a:xfrm>
            <a:off x="6457950" y="1957705"/>
            <a:ext cx="5133340" cy="3761740"/>
          </a:xfrm>
          <a:prstGeom prst="rect">
            <a:avLst/>
          </a:prstGeom>
        </p:spPr>
      </p:pic>
      <p:pic>
        <p:nvPicPr>
          <p:cNvPr id="5" name="图片 4"/>
          <p:cNvPicPr>
            <a:picLocks noChangeAspect="1"/>
          </p:cNvPicPr>
          <p:nvPr/>
        </p:nvPicPr>
        <p:blipFill>
          <a:blip r:embed="rId2"/>
          <a:srcRect l="7000" t="11750" r="9521" b="5653"/>
          <a:stretch>
            <a:fillRect/>
          </a:stretch>
        </p:blipFill>
        <p:spPr>
          <a:xfrm>
            <a:off x="485775" y="1934210"/>
            <a:ext cx="5088890" cy="3776345"/>
          </a:xfrm>
          <a:prstGeom prst="rect">
            <a:avLst/>
          </a:prstGeom>
        </p:spPr>
      </p:pic>
      <p:sp>
        <p:nvSpPr>
          <p:cNvPr id="6" name="文本框 5"/>
          <p:cNvSpPr txBox="1"/>
          <p:nvPr/>
        </p:nvSpPr>
        <p:spPr>
          <a:xfrm>
            <a:off x="2145030" y="6200140"/>
            <a:ext cx="9015095" cy="460375"/>
          </a:xfrm>
          <a:prstGeom prst="rect">
            <a:avLst/>
          </a:prstGeom>
          <a:noFill/>
        </p:spPr>
        <p:txBody>
          <a:bodyPr wrap="square" rtlCol="0">
            <a:spAutoFit/>
          </a:bodyPr>
          <a:p>
            <a:r>
              <a:rPr lang="zh-CN" altLang="en-US" sz="2400"/>
              <a:t>将来自不同磁场配置的数据混合</a:t>
            </a:r>
            <a:r>
              <a:rPr lang="zh-CN" altLang="en-US" sz="2400"/>
              <a:t>训练，能够减小波动降低损失</a:t>
            </a:r>
            <a:endParaRPr lang="zh-CN" altLang="en-US" sz="24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前瞻：</a:t>
            </a:r>
            <a:r>
              <a:rPr lang="en-US" altLang="zh-CN"/>
              <a:t>Npde</a:t>
            </a:r>
            <a:r>
              <a:rPr lang="zh-CN" altLang="en-US"/>
              <a:t>采样</a:t>
            </a:r>
            <a:r>
              <a:rPr lang="zh-CN" altLang="en-US"/>
              <a:t>方式</a:t>
            </a:r>
            <a:endParaRPr lang="zh-CN" altLang="en-US"/>
          </a:p>
        </p:txBody>
      </p:sp>
      <p:sp>
        <p:nvSpPr>
          <p:cNvPr id="3" name="内容占位符 2"/>
          <p:cNvSpPr>
            <a:spLocks noGrp="1"/>
          </p:cNvSpPr>
          <p:nvPr>
            <p:ph idx="1"/>
          </p:nvPr>
        </p:nvSpPr>
        <p:spPr/>
        <p:txBody>
          <a:bodyPr/>
          <a:p>
            <a:r>
              <a:rPr lang="en-US" altLang="zh-CN"/>
              <a:t>Npde</a:t>
            </a:r>
            <a:r>
              <a:rPr lang="zh-CN" altLang="en-US"/>
              <a:t>现在在内部随机均匀</a:t>
            </a:r>
            <a:r>
              <a:rPr lang="zh-CN" altLang="en-US"/>
              <a:t>取点</a:t>
            </a:r>
            <a:endParaRPr lang="zh-CN" altLang="en-US"/>
          </a:p>
          <a:p>
            <a:r>
              <a:rPr lang="zh-CN" altLang="en-US"/>
              <a:t>或许可借鉴有限元划分网格的</a:t>
            </a:r>
            <a:r>
              <a:rPr lang="zh-CN" altLang="en-US"/>
              <a:t>方法</a:t>
            </a:r>
            <a:endParaRPr lang="zh-CN" altLang="en-US"/>
          </a:p>
          <a:p>
            <a:r>
              <a:rPr lang="zh-CN" altLang="en-US"/>
              <a:t>薄弱区域多</a:t>
            </a:r>
            <a:r>
              <a:rPr lang="zh-CN" altLang="en-US"/>
              <a:t>取点</a:t>
            </a:r>
            <a:endParaRPr lang="zh-CN" altLang="en-US"/>
          </a:p>
          <a:p>
            <a:r>
              <a:rPr lang="zh-CN" altLang="en-US"/>
              <a:t>三角格子</a:t>
            </a:r>
            <a:r>
              <a:rPr lang="zh-CN" altLang="en-US"/>
              <a:t>取点</a:t>
            </a:r>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前瞻：模拟数据</a:t>
            </a:r>
            <a:r>
              <a:rPr lang="zh-CN" altLang="en-US"/>
              <a:t>预训练</a:t>
            </a:r>
            <a:endParaRPr lang="zh-CN" altLang="en-US"/>
          </a:p>
        </p:txBody>
      </p:sp>
      <p:sp>
        <p:nvSpPr>
          <p:cNvPr id="3" name="内容占位符 2"/>
          <p:cNvSpPr>
            <a:spLocks noGrp="1"/>
          </p:cNvSpPr>
          <p:nvPr>
            <p:ph idx="1"/>
          </p:nvPr>
        </p:nvSpPr>
        <p:spPr/>
        <p:txBody>
          <a:bodyPr/>
          <a:p>
            <a:r>
              <a:rPr lang="zh-CN" altLang="en-US"/>
              <a:t>使用大量磁场配置与实验相似的模拟数据训练</a:t>
            </a:r>
            <a:r>
              <a:rPr lang="en-US" altLang="zh-CN"/>
              <a:t>deepOnet</a:t>
            </a:r>
            <a:r>
              <a:rPr lang="zh-CN" altLang="en-US"/>
              <a:t>（可来自于</a:t>
            </a:r>
            <a:r>
              <a:rPr lang="en-US" altLang="zh-CN"/>
              <a:t>Maxwell</a:t>
            </a:r>
            <a:r>
              <a:rPr lang="zh-CN" altLang="en-US"/>
              <a:t>）</a:t>
            </a:r>
            <a:endParaRPr lang="zh-CN" altLang="en-US"/>
          </a:p>
          <a:p>
            <a:endParaRPr lang="en-US" altLang="zh-CN"/>
          </a:p>
          <a:p>
            <a:r>
              <a:rPr lang="zh-CN" altLang="en-US"/>
              <a:t>再用实验数据＋</a:t>
            </a:r>
            <a:r>
              <a:rPr lang="en-US" altLang="zh-CN"/>
              <a:t>PINN</a:t>
            </a:r>
            <a:r>
              <a:rPr lang="zh-CN" altLang="en-US"/>
              <a:t>损失项进行</a:t>
            </a:r>
            <a:r>
              <a:rPr lang="zh-CN" altLang="en-US"/>
              <a:t>微调</a:t>
            </a:r>
            <a:endParaRPr lang="zh-CN" altLang="en-US"/>
          </a:p>
          <a:p>
            <a:endParaRPr lang="zh-CN" altLang="en-US"/>
          </a:p>
          <a:p>
            <a:r>
              <a:rPr lang="zh-CN" altLang="en-US"/>
              <a:t>使得模型内植入磁场配置信息</a:t>
            </a:r>
            <a:r>
              <a:rPr lang="en-US" altLang="zh-CN"/>
              <a:t>+</a:t>
            </a:r>
            <a:r>
              <a:rPr lang="zh-CN" altLang="en-US"/>
              <a:t>物理损失</a:t>
            </a:r>
            <a:r>
              <a:rPr lang="zh-CN" altLang="en-US"/>
              <a:t>信息</a:t>
            </a:r>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前瞻：误差</a:t>
            </a:r>
            <a:r>
              <a:rPr lang="zh-CN" altLang="en-US"/>
              <a:t>估计</a:t>
            </a:r>
            <a:endParaRPr lang="zh-CN" altLang="en-US"/>
          </a:p>
        </p:txBody>
      </p:sp>
      <p:sp>
        <p:nvSpPr>
          <p:cNvPr id="3" name="内容占位符 2"/>
          <p:cNvSpPr>
            <a:spLocks noGrp="1"/>
          </p:cNvSpPr>
          <p:nvPr>
            <p:ph idx="1"/>
          </p:nvPr>
        </p:nvSpPr>
        <p:spPr/>
        <p:txBody>
          <a:bodyPr/>
          <a:p>
            <a:r>
              <a:rPr lang="en-US" altLang="zh-CN"/>
              <a:t>Bayesian </a:t>
            </a:r>
            <a:r>
              <a:rPr lang="en-US" altLang="zh-CN"/>
              <a:t>PINN</a:t>
            </a:r>
            <a:endParaRPr lang="en-US" altLang="zh-CN"/>
          </a:p>
          <a:p>
            <a:r>
              <a:rPr lang="zh-CN" altLang="en-US"/>
              <a:t>假设参数先验分布（通常</a:t>
            </a:r>
            <a:r>
              <a:rPr lang="zh-CN" altLang="en-US"/>
              <a:t>高斯）</a:t>
            </a:r>
            <a:endParaRPr lang="zh-CN" altLang="en-US"/>
          </a:p>
          <a:p>
            <a:r>
              <a:rPr lang="zh-CN" altLang="en-US"/>
              <a:t>根据数据计算后验分布</a:t>
            </a:r>
            <a:r>
              <a:rPr lang="zh-CN" altLang="en-US"/>
              <a:t>概率</a:t>
            </a:r>
            <a:endParaRPr lang="zh-CN" altLang="en-US"/>
          </a:p>
          <a:p>
            <a:r>
              <a:rPr lang="zh-CN" altLang="en-US"/>
              <a:t>采样多</a:t>
            </a:r>
            <a:r>
              <a:rPr lang="zh-CN" altLang="en-US"/>
              <a:t>组参数</a:t>
            </a:r>
            <a:r>
              <a:rPr lang="zh-CN" altLang="en-US"/>
              <a:t>后验分布</a:t>
            </a:r>
            <a:endParaRPr lang="zh-CN" altLang="en-US"/>
          </a:p>
          <a:p>
            <a:r>
              <a:rPr lang="zh-CN" altLang="en-US"/>
              <a:t>得到多个</a:t>
            </a:r>
            <a:r>
              <a:rPr lang="zh-CN" altLang="en-US"/>
              <a:t>预测值</a:t>
            </a:r>
            <a:endParaRPr lang="zh-CN" altLang="en-US"/>
          </a:p>
          <a:p>
            <a:r>
              <a:rPr lang="zh-CN" altLang="en-US"/>
              <a:t>计算均值和</a:t>
            </a:r>
            <a:r>
              <a:rPr lang="zh-CN" altLang="en-US"/>
              <a:t>方差</a:t>
            </a:r>
            <a:endParaRPr lang="zh-CN" altLang="en-US"/>
          </a:p>
        </p:txBody>
      </p:sp>
      <p:pic>
        <p:nvPicPr>
          <p:cNvPr id="4" name="图片 3"/>
          <p:cNvPicPr>
            <a:picLocks noChangeAspect="1"/>
          </p:cNvPicPr>
          <p:nvPr/>
        </p:nvPicPr>
        <p:blipFill>
          <a:blip r:embed="rId1"/>
          <a:stretch>
            <a:fillRect/>
          </a:stretch>
        </p:blipFill>
        <p:spPr>
          <a:xfrm>
            <a:off x="6304915" y="941705"/>
            <a:ext cx="5106035" cy="385000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前瞻</a:t>
            </a:r>
            <a:endParaRPr lang="zh-CN" altLang="en-US"/>
          </a:p>
        </p:txBody>
      </p:sp>
      <p:sp>
        <p:nvSpPr>
          <p:cNvPr id="3" name="内容占位符 2"/>
          <p:cNvSpPr>
            <a:spLocks noGrp="1"/>
          </p:cNvSpPr>
          <p:nvPr>
            <p:ph idx="1"/>
          </p:nvPr>
        </p:nvSpPr>
        <p:spPr/>
        <p:txBody>
          <a:bodyPr/>
          <a:p>
            <a:r>
              <a:rPr lang="en-US" altLang="zh-CN"/>
              <a:t>FNO</a:t>
            </a:r>
            <a:r>
              <a:rPr lang="zh-CN" altLang="en-US"/>
              <a:t>：傅里叶神经</a:t>
            </a:r>
            <a:r>
              <a:rPr lang="zh-CN" altLang="en-US"/>
              <a:t>算子</a:t>
            </a:r>
            <a:endParaRPr lang="zh-CN" altLang="en-US"/>
          </a:p>
          <a:p>
            <a:r>
              <a:rPr lang="zh-CN" altLang="en-US"/>
              <a:t>利用傅里叶变换当作一层的</a:t>
            </a:r>
            <a:r>
              <a:rPr lang="en-US" altLang="zh-CN"/>
              <a:t>deepOnet</a:t>
            </a:r>
            <a:endParaRPr lang="en-US"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p:txBody>
          <a:bodyPr/>
          <a:p>
            <a:r>
              <a:rPr lang="zh-CN" altLang="en-US"/>
              <a:t>感谢</a:t>
            </a:r>
            <a:r>
              <a:rPr lang="zh-CN" altLang="en-US"/>
              <a:t>大家</a:t>
            </a:r>
            <a:endParaRPr lang="zh-CN" altLang="en-US"/>
          </a:p>
        </p:txBody>
      </p:sp>
      <p:sp>
        <p:nvSpPr>
          <p:cNvPr id="3" name="内容占位符 2"/>
          <p:cNvSpPr>
            <a:spLocks noGrp="1"/>
          </p:cNvSpPr>
          <p:nvPr>
            <p:ph idx="1"/>
          </p:nvPr>
        </p:nvSpPr>
        <p:spPr/>
        <p:txBody>
          <a:bodyPr/>
          <a:p>
            <a:r>
              <a:rPr lang="zh-CN" altLang="en-US"/>
              <a:t>感谢老师和学长们一年以来的</a:t>
            </a:r>
            <a:r>
              <a:rPr lang="zh-CN" altLang="en-US"/>
              <a:t>指导</a:t>
            </a:r>
            <a:endParaRPr lang="zh-CN" altLang="en-US"/>
          </a:p>
          <a:p>
            <a:endParaRPr lang="zh-CN" altLang="en-US"/>
          </a:p>
          <a:p>
            <a:r>
              <a:rPr lang="zh-CN" altLang="en-US"/>
              <a:t>有缘</a:t>
            </a:r>
            <a:r>
              <a:rPr lang="zh-CN" altLang="en-US"/>
              <a:t>再见！</a:t>
            </a:r>
            <a:endParaRPr lang="zh-CN" altLang="en-US"/>
          </a:p>
        </p:txBody>
      </p:sp>
    </p:spTree>
  </p:cSld>
  <p:clrMapOvr>
    <a:masterClrMapping/>
  </p:clrMapOvr>
</p:sld>
</file>

<file path=ppt/tags/tag1.xml><?xml version="1.0" encoding="utf-8"?>
<p:tagLst xmlns:p="http://schemas.openxmlformats.org/presentationml/2006/main">
  <p:tag name="TABLE_ENDDRAG_ORIGIN_RECT" val="504*96"/>
  <p:tag name="TABLE_ENDDRAG_RECT" val="155*420*504*96"/>
</p:tagLst>
</file>

<file path=ppt/tags/tag2.xml><?xml version="1.0" encoding="utf-8"?>
<p:tagLst xmlns:p="http://schemas.openxmlformats.org/presentationml/2006/main">
  <p:tag name="TABLE_ENDDRAG_ORIGIN_RECT" val="504*96"/>
  <p:tag name="TABLE_ENDDRAG_RECT" val="155*420*504*96"/>
</p:tagLst>
</file>

<file path=ppt/tags/tag3.xml><?xml version="1.0" encoding="utf-8"?>
<p:tagLst xmlns:p="http://schemas.openxmlformats.org/presentationml/2006/main">
  <p:tag name="TABLE_ENDDRAG_ORIGIN_RECT" val="528*120"/>
  <p:tag name="TABLE_ENDDRAG_RECT" val="378*60*528*120"/>
</p:tagLst>
</file>

<file path=ppt/tags/tag4.xml><?xml version="1.0" encoding="utf-8"?>
<p:tagLst xmlns:p="http://schemas.openxmlformats.org/presentationml/2006/main">
  <p:tag name="TABLE_ENDDRAG_ORIGIN_RECT" val="503*158"/>
  <p:tag name="TABLE_ENDDRAG_RECT" val="452*5*503*158"/>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2612</Words>
  <Application>WPS 演示</Application>
  <PresentationFormat>宽屏</PresentationFormat>
  <Paragraphs>315</Paragraphs>
  <Slides>22</Slides>
  <Notes>0</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22</vt:i4>
      </vt:variant>
    </vt:vector>
  </HeadingPairs>
  <TitlesOfParts>
    <vt:vector size="30" baseType="lpstr">
      <vt:lpstr>Arial</vt:lpstr>
      <vt:lpstr>宋体</vt:lpstr>
      <vt:lpstr>Wingdings</vt:lpstr>
      <vt:lpstr>微软雅黑</vt:lpstr>
      <vt:lpstr>Calibri</vt:lpstr>
      <vt:lpstr>Arial Unicode MS</vt:lpstr>
      <vt:lpstr>WPS</vt:lpstr>
      <vt:lpstr>Equation.KSEE3</vt:lpstr>
      <vt:lpstr>所有工作总结</vt:lpstr>
      <vt:lpstr>代码成果</vt:lpstr>
      <vt:lpstr>进展：解析磁场模型建立</vt:lpstr>
      <vt:lpstr>进展：Maxwell模型</vt:lpstr>
      <vt:lpstr>进展：使用现实参数解析模型训练</vt:lpstr>
      <vt:lpstr>中心磁场400μT</vt:lpstr>
      <vt:lpstr>中心磁场100μT</vt:lpstr>
      <vt:lpstr>中心磁场10μT</vt:lpstr>
      <vt:lpstr>中心磁场0μT</vt:lpstr>
      <vt:lpstr>进展：使用磁标势模型消除旋度</vt:lpstr>
      <vt:lpstr>进展：硬PINN--边界损失消除</vt:lpstr>
      <vt:lpstr>进展：集成模型</vt:lpstr>
      <vt:lpstr>进展：误差估计</vt:lpstr>
      <vt:lpstr>进展：参数建议</vt:lpstr>
      <vt:lpstr>进展：deepOnet</vt:lpstr>
      <vt:lpstr>进展：deepOnet_conv</vt:lpstr>
      <vt:lpstr>进展：deepOnet randomization</vt:lpstr>
      <vt:lpstr>前瞻：Npde采样方式</vt:lpstr>
      <vt:lpstr>前瞻：模拟数据预训练</vt:lpstr>
      <vt:lpstr>前瞻：误差估计</vt:lpstr>
      <vt:lpstr>前瞻</vt:lpstr>
      <vt:lpstr>感谢大家</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win</dc:creator>
  <cp:lastModifiedBy>Iris wu</cp:lastModifiedBy>
  <cp:revision>4</cp:revision>
  <dcterms:created xsi:type="dcterms:W3CDTF">2023-08-09T12:44:00Z</dcterms:created>
  <dcterms:modified xsi:type="dcterms:W3CDTF">2025-07-14T04:12:08Z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B31C67B87BD242B58C4AA4E46FC54C7A_12</vt:lpwstr>
  </property>
</Properties>
</file>